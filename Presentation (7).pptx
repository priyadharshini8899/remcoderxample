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presProps" Target="presProps.xml" /><Relationship Id="rId3" Type="http://schemas.openxmlformats.org/officeDocument/2006/relationships/slide" Target="slides/slide2.xml" /><Relationship Id="rId7" Type="http://schemas.openxmlformats.org/officeDocument/2006/relationships/slide" Target="slides/slide6.xml" /><Relationship Id="rId12" Type="http://schemas.openxmlformats.org/officeDocument/2006/relationships/slide" Target="slides/slide11.xml" /><Relationship Id="rId2" Type="http://schemas.openxmlformats.org/officeDocument/2006/relationships/slide" Target="slides/slide1.xml" /><Relationship Id="rId16" Type="http://schemas.openxmlformats.org/officeDocument/2006/relationships/tableStyles" Target="tableStyles.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5" Type="http://schemas.openxmlformats.org/officeDocument/2006/relationships/slide" Target="slides/slide4.xml" /><Relationship Id="rId15" Type="http://schemas.openxmlformats.org/officeDocument/2006/relationships/theme" Target="theme/theme1.xml" /><Relationship Id="rId10" Type="http://schemas.openxmlformats.org/officeDocument/2006/relationships/slide" Target="slides/slide9.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viewProps" Target="viewProps.xml" /></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Master" Target="../slideMasters/slideMaster1.xml" /></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Master" Target="../slideMasters/slideMaster1.xml" /></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Master" Target="../slideMasters/slideMaster1.xml" /></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GB"/>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5923F103-BC34-4FE4-A40E-EDDEECFDA5D0}" type="datetimeFigureOut">
              <a:rPr lang="en-US" dirty="0"/>
              <a:pPr/>
              <a:t>10/11/2023</a:t>
            </a:fld>
            <a:endParaRPr lang="en-US" dirty="0"/>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US" dirty="0"/>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19C9CA7B-DFD4-44B5-8C60-D14B8CD1FB59}" type="datetimeFigureOut">
              <a:rPr lang="en-US" dirty="0"/>
              <a:t>10/11/2023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GB"/>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F34E6425-0181-43F2-84FC-787E803FD2F8}" type="datetimeFigureOut">
              <a:rPr lang="en-US" dirty="0"/>
              <a:t>10/11/2023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3BDB8791-F1B0-41E7-B7FD-A781E65C4266}" type="datetimeFigureOut">
              <a:rPr lang="en-US" dirty="0"/>
              <a:t>10/11/2023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5FDD63B2-E120-4ED8-B27B-C685F510A5FE}" type="datetimeFigureOut">
              <a:rPr lang="en-US" dirty="0"/>
              <a:t>10/11/2023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7AA18ACC-A947-437B-A130-35BD54FDF1E9}" type="datetimeFigureOut">
              <a:rPr lang="en-US" dirty="0"/>
              <a:t>10/11/2023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C8D7E02-BCB8-4D50-A234-369438C08659}" type="datetimeFigureOut">
              <a:rPr lang="en-US" dirty="0"/>
              <a:t>10/11/2023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GB"/>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76E86A4C-8E40-4F87-A4F0-01A0687C5742}" type="datetimeFigureOut">
              <a:rPr lang="en-US" dirty="0"/>
              <a:t>10/11/2023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GB"/>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GB"/>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35E72C73-2D91-4E12-BA25-F0AA0C03599B}" type="datetimeFigureOut">
              <a:rPr lang="en-US" dirty="0"/>
              <a:t>10/11/2023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GB"/>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923A1CC3-2375-41D4-9E03-427CAF2A4C1A}" type="datetimeFigureOut">
              <a:rPr lang="en-US" dirty="0"/>
              <a:t>10/11/2023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GB"/>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4" name="Date Placeholder 3"/>
          <p:cNvSpPr>
            <a:spLocks noGrp="1"/>
          </p:cNvSpPr>
          <p:nvPr>
            <p:ph type="dt" sz="half" idx="10"/>
          </p:nvPr>
        </p:nvSpPr>
        <p:spPr/>
        <p:txBody>
          <a:bodyPr/>
          <a:lstStyle/>
          <a:p>
            <a:fld id="{AFF16868-8199-4C2C-A5B1-63AEE139F88E}" type="datetimeFigureOut">
              <a:rPr lang="en-US" dirty="0"/>
              <a:t>10/11/2023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GB"/>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4" name="Date Placeholder 3"/>
          <p:cNvSpPr>
            <a:spLocks noGrp="1"/>
          </p:cNvSpPr>
          <p:nvPr>
            <p:ph type="dt" sz="half" idx="10"/>
          </p:nvPr>
        </p:nvSpPr>
        <p:spPr/>
        <p:txBody>
          <a:bodyPr/>
          <a:lstStyle/>
          <a:p>
            <a:fld id="{AAD9FF7F-6988-44CC-821B-644E70CD2F73}" type="datetimeFigureOut">
              <a:rPr lang="en-US" dirty="0"/>
              <a:t>10/11/2023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GB"/>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5C12C299-16B2-4475-990D-751901EACC14}" type="datetimeFigureOut">
              <a:rPr lang="en-US" dirty="0"/>
              <a:t>10/11/2023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GB"/>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9FE86839-B9D8-4651-8783-F325ECE74E65}" type="datetimeFigureOut">
              <a:rPr lang="en-US" dirty="0"/>
              <a:t>10/11/2023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GB"/>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FD484F64-32F6-45C5-931F-ADC1662401D0}" type="datetimeFigureOut">
              <a:rPr lang="en-US" dirty="0"/>
              <a:t>10/11/2023</a:t>
            </a:fld>
            <a:endParaRPr lang="en-US" dirty="0"/>
          </a:p>
        </p:txBody>
      </p:sp>
      <p:sp>
        <p:nvSpPr>
          <p:cNvPr id="8" name="Footer Placeholder 7"/>
          <p:cNvSpPr>
            <a:spLocks noGrp="1"/>
          </p:cNvSpPr>
          <p:nvPr>
            <p:ph type="ftr" sz="quarter" idx="11"/>
          </p:nvPr>
        </p:nvSpPr>
        <p:spPr>
          <a:xfrm>
            <a:off x="561111" y="6391838"/>
            <a:ext cx="3644282" cy="304801"/>
          </a:xfrm>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53086D93-FCAC-47E0-A2EE-787E62CA814C}" type="datetimeFigureOut">
              <a:rPr lang="en-US" dirty="0"/>
              <a:t>10/11/2023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GB"/>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CDA879A6-0FD0-4734-A311-86BFCA472E6E}" type="datetimeFigureOut">
              <a:rPr lang="en-US" dirty="0"/>
              <a:t>10/11/2023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13" Type="http://schemas.openxmlformats.org/officeDocument/2006/relationships/slideLayout" Target="../slideLayouts/slideLayout13.xml" /><Relationship Id="rId18" Type="http://schemas.openxmlformats.org/officeDocument/2006/relationships/theme" Target="../theme/theme1.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slideLayout" Target="../slideLayouts/slideLayout12.xml" /><Relationship Id="rId17" Type="http://schemas.openxmlformats.org/officeDocument/2006/relationships/slideLayout" Target="../slideLayouts/slideLayout17.xml" /><Relationship Id="rId2" Type="http://schemas.openxmlformats.org/officeDocument/2006/relationships/slideLayout" Target="../slideLayouts/slideLayout2.xml" /><Relationship Id="rId16" Type="http://schemas.openxmlformats.org/officeDocument/2006/relationships/slideLayout" Target="../slideLayouts/slideLayout16.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5" Type="http://schemas.openxmlformats.org/officeDocument/2006/relationships/slideLayout" Target="../slideLayouts/slideLayout15.xml" /><Relationship Id="rId10" Type="http://schemas.openxmlformats.org/officeDocument/2006/relationships/slideLayout" Target="../slideLayouts/slideLayout10.xml" /><Relationship Id="rId19" Type="http://schemas.openxmlformats.org/officeDocument/2006/relationships/image" Target="../media/image1.jpeg" /><Relationship Id="rId4" Type="http://schemas.openxmlformats.org/officeDocument/2006/relationships/slideLayout" Target="../slideLayouts/slideLayout4.xml" /><Relationship Id="rId9" Type="http://schemas.openxmlformats.org/officeDocument/2006/relationships/slideLayout" Target="../slideLayouts/slideLayout9.xml" /><Relationship Id="rId14" Type="http://schemas.openxmlformats.org/officeDocument/2006/relationships/slideLayout" Target="../slideLayouts/slideLayout14.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GB"/>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2BE451C3-0FF4-47C4-B829-773ADF60F88C}" type="datetimeFigureOut">
              <a:rPr lang="en-US" dirty="0"/>
              <a:t>10/11/2023</a:t>
            </a:fld>
            <a:endParaRPr lang="en-US" dirty="0"/>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US" dirty="0"/>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73" r:id="rId3"/>
    <p:sldLayoutId id="2147483652" r:id="rId4"/>
    <p:sldLayoutId id="2147483653" r:id="rId5"/>
    <p:sldLayoutId id="2147483654" r:id="rId6"/>
    <p:sldLayoutId id="2147483655" r:id="rId7"/>
    <p:sldLayoutId id="2147483656" r:id="rId8"/>
    <p:sldLayoutId id="2147483668" r:id="rId9"/>
    <p:sldLayoutId id="2147483667" r:id="rId10"/>
    <p:sldLayoutId id="2147483661" r:id="rId11"/>
    <p:sldLayoutId id="2147483672" r:id="rId12"/>
    <p:sldLayoutId id="2147483662" r:id="rId13"/>
    <p:sldLayoutId id="2147483669" r:id="rId14"/>
    <p:sldLayoutId id="2147483670" r:id="rId15"/>
    <p:sldLayoutId id="2147483658" r:id="rId16"/>
    <p:sldLayoutId id="2147483659" r:id="rId17"/>
  </p:sldLayoutIdLst>
  <p:hf sldNum="0" hdr="0" ftr="0" dt="0"/>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2" Type="http://schemas.openxmlformats.org/officeDocument/2006/relationships/image" Target="../media/image3.jpg" /><Relationship Id="rId1" Type="http://schemas.openxmlformats.org/officeDocument/2006/relationships/slideLayout" Target="../slideLayouts/slideLayout8.xml" /></Relationships>
</file>

<file path=ppt/slides/_rels/slide7.xml.rels><?xml version="1.0" encoding="UTF-8" standalone="yes"?>
<Relationships xmlns="http://schemas.openxmlformats.org/package/2006/relationships"><Relationship Id="rId2" Type="http://schemas.openxmlformats.org/officeDocument/2006/relationships/image" Target="../media/image4.jpg" /><Relationship Id="rId1" Type="http://schemas.openxmlformats.org/officeDocument/2006/relationships/slideLayout" Target="../slideLayouts/slideLayout8.xml" /></Relationships>
</file>

<file path=ppt/slides/_rels/slide8.xml.rels><?xml version="1.0" encoding="UTF-8" standalone="yes"?>
<Relationships xmlns="http://schemas.openxmlformats.org/package/2006/relationships"><Relationship Id="rId2" Type="http://schemas.openxmlformats.org/officeDocument/2006/relationships/image" Target="../media/image5.jpg" /><Relationship Id="rId1" Type="http://schemas.openxmlformats.org/officeDocument/2006/relationships/slideLayout" Target="../slideLayouts/slideLayout8.xml" /></Relationships>
</file>

<file path=ppt/slides/_rels/slide9.xml.rels><?xml version="1.0" encoding="UTF-8" standalone="yes"?>
<Relationships xmlns="http://schemas.openxmlformats.org/package/2006/relationships"><Relationship Id="rId2" Type="http://schemas.openxmlformats.org/officeDocument/2006/relationships/image" Target="../media/image6.png" /><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6A0D2E-5DE9-0143-831F-106D17A256B3}"/>
              </a:ext>
            </a:extLst>
          </p:cNvPr>
          <p:cNvSpPr>
            <a:spLocks noGrp="1"/>
          </p:cNvSpPr>
          <p:nvPr>
            <p:ph type="ctrTitle"/>
          </p:nvPr>
        </p:nvSpPr>
        <p:spPr/>
        <p:txBody>
          <a:bodyPr/>
          <a:lstStyle/>
          <a:p>
            <a:pPr algn="ctr"/>
            <a:r>
              <a:rPr lang="en-GB" b="1" i="1" u="sng">
                <a:solidFill>
                  <a:schemeClr val="accent1"/>
                </a:solidFill>
              </a:rPr>
              <a:t>FLOOD MONITORING AND EARLY WARNING SYSTEM </a:t>
            </a:r>
            <a:endParaRPr lang="en-US" b="1" i="1" u="sng">
              <a:solidFill>
                <a:schemeClr val="accent1"/>
              </a:solidFill>
            </a:endParaRPr>
          </a:p>
        </p:txBody>
      </p:sp>
      <p:sp>
        <p:nvSpPr>
          <p:cNvPr id="3" name="Subtitle 2">
            <a:extLst>
              <a:ext uri="{FF2B5EF4-FFF2-40B4-BE49-F238E27FC236}">
                <a16:creationId xmlns:a16="http://schemas.microsoft.com/office/drawing/2014/main" id="{C71DC0E5-9BF8-3F4C-ADDF-20BFA4F4EA64}"/>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4226927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370E16-69BB-F44A-8734-9678B9C2FE32}"/>
              </a:ext>
            </a:extLst>
          </p:cNvPr>
          <p:cNvSpPr>
            <a:spLocks noGrp="1"/>
          </p:cNvSpPr>
          <p:nvPr>
            <p:ph type="title"/>
          </p:nvPr>
        </p:nvSpPr>
        <p:spPr/>
        <p:txBody>
          <a:bodyPr/>
          <a:lstStyle/>
          <a:p>
            <a:r>
              <a:rPr lang="en-GB" b="1" i="1" u="sng">
                <a:solidFill>
                  <a:schemeClr val="accent1"/>
                </a:solidFill>
              </a:rPr>
              <a:t>ABSTRACT </a:t>
            </a:r>
            <a:endParaRPr lang="en-US" b="1" i="1" u="sng">
              <a:solidFill>
                <a:schemeClr val="accent1"/>
              </a:solidFill>
            </a:endParaRPr>
          </a:p>
        </p:txBody>
      </p:sp>
      <p:sp>
        <p:nvSpPr>
          <p:cNvPr id="3" name="Content Placeholder 2">
            <a:extLst>
              <a:ext uri="{FF2B5EF4-FFF2-40B4-BE49-F238E27FC236}">
                <a16:creationId xmlns:a16="http://schemas.microsoft.com/office/drawing/2014/main" id="{5F8AC7CE-0336-E54D-882B-721AB0BE6E8C}"/>
              </a:ext>
            </a:extLst>
          </p:cNvPr>
          <p:cNvSpPr>
            <a:spLocks noGrp="1"/>
          </p:cNvSpPr>
          <p:nvPr>
            <p:ph idx="1"/>
          </p:nvPr>
        </p:nvSpPr>
        <p:spPr/>
        <p:txBody>
          <a:bodyPr/>
          <a:lstStyle/>
          <a:p>
            <a:r>
              <a:rPr lang="en-GB"/>
              <a:t>Floods represent a pervasive and devastating natural hazard with far-reaching consequences for both human lives and infrastructure. This abstract explores the critical importance of flood monitoring and early warning systems in reducing the impact of these disasters. Effective flood management relies on the integration of advanced technologies, including remote sensing, meteorological data, and real-time monitoring networks.</a:t>
            </a:r>
            <a:endParaRPr lang="en-US"/>
          </a:p>
        </p:txBody>
      </p:sp>
    </p:spTree>
    <p:extLst>
      <p:ext uri="{BB962C8B-B14F-4D97-AF65-F5344CB8AC3E}">
        <p14:creationId xmlns:p14="http://schemas.microsoft.com/office/powerpoint/2010/main" val="2648415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C33EA0-DCD3-F547-9B2F-A96B28ABA085}"/>
              </a:ext>
            </a:extLst>
          </p:cNvPr>
          <p:cNvSpPr>
            <a:spLocks noGrp="1"/>
          </p:cNvSpPr>
          <p:nvPr>
            <p:ph type="title"/>
          </p:nvPr>
        </p:nvSpPr>
        <p:spPr/>
        <p:txBody>
          <a:bodyPr/>
          <a:lstStyle/>
          <a:p>
            <a:r>
              <a:rPr lang="en-GB" b="1" i="1" u="sng">
                <a:solidFill>
                  <a:schemeClr val="accent1"/>
                </a:solidFill>
              </a:rPr>
              <a:t>INTRODUCTION </a:t>
            </a:r>
            <a:endParaRPr lang="en-US" b="1" i="1" u="sng">
              <a:solidFill>
                <a:schemeClr val="accent1"/>
              </a:solidFill>
            </a:endParaRPr>
          </a:p>
        </p:txBody>
      </p:sp>
      <p:sp>
        <p:nvSpPr>
          <p:cNvPr id="3" name="Content Placeholder 2">
            <a:extLst>
              <a:ext uri="{FF2B5EF4-FFF2-40B4-BE49-F238E27FC236}">
                <a16:creationId xmlns:a16="http://schemas.microsoft.com/office/drawing/2014/main" id="{10DC5020-0311-F14D-B98D-0436E46DF18D}"/>
              </a:ext>
            </a:extLst>
          </p:cNvPr>
          <p:cNvSpPr>
            <a:spLocks noGrp="1"/>
          </p:cNvSpPr>
          <p:nvPr>
            <p:ph idx="1"/>
          </p:nvPr>
        </p:nvSpPr>
        <p:spPr/>
        <p:txBody>
          <a:bodyPr/>
          <a:lstStyle/>
          <a:p>
            <a:r>
              <a:rPr lang="en-GB"/>
              <a:t>           Flood monitoring and early warning systems are crucial components of disaster management, designed to mitigate the devastating impacts of floods. These systems involve the continuous surveillance of various environmental factors, such as rainfall, river levels, and weather conditions, to detect potential flood events. When certain thresholds are exceeded or specific patterns are identified, alerts are issued to authorities and communities at risk, enabling them to take proactive measures to protect lives and property. The effectiveness of flood monitoring and early warning systems relies on advanced technology, real-time data analysis, and efficient communication channels to provide timely and accurate information to those in harm’s way, ultimately saving lives and reducing the socio-economic impact of flooding disasters</a:t>
            </a:r>
            <a:endParaRPr lang="en-US"/>
          </a:p>
        </p:txBody>
      </p:sp>
    </p:spTree>
    <p:extLst>
      <p:ext uri="{BB962C8B-B14F-4D97-AF65-F5344CB8AC3E}">
        <p14:creationId xmlns:p14="http://schemas.microsoft.com/office/powerpoint/2010/main" val="29943071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E47B92-F7FC-9C48-A10A-44D32EB39781}"/>
              </a:ext>
            </a:extLst>
          </p:cNvPr>
          <p:cNvSpPr>
            <a:spLocks noGrp="1"/>
          </p:cNvSpPr>
          <p:nvPr>
            <p:ph type="title"/>
          </p:nvPr>
        </p:nvSpPr>
        <p:spPr/>
        <p:txBody>
          <a:bodyPr/>
          <a:lstStyle/>
          <a:p>
            <a:r>
              <a:rPr lang="en-GB" b="1" i="1" u="sng">
                <a:solidFill>
                  <a:schemeClr val="accent1"/>
                </a:solidFill>
              </a:rPr>
              <a:t>DESIGN </a:t>
            </a:r>
            <a:endParaRPr lang="en-US" b="1" i="1" u="sng">
              <a:solidFill>
                <a:schemeClr val="accent1"/>
              </a:solidFill>
            </a:endParaRPr>
          </a:p>
        </p:txBody>
      </p:sp>
      <p:pic>
        <p:nvPicPr>
          <p:cNvPr id="6" name="scaled_or_rotated_649aa8e5-3a9f-40fc-86ca-e348bcdedbc5">
            <a:extLst>
              <a:ext uri="{FF2B5EF4-FFF2-40B4-BE49-F238E27FC236}">
                <a16:creationId xmlns:a16="http://schemas.microsoft.com/office/drawing/2014/main" id="{E6415A87-AC17-DB4F-8FA3-414D967B7B5D}"/>
              </a:ext>
            </a:extLst>
          </p:cNvPr>
          <p:cNvPicPr>
            <a:picLocks noGrp="1"/>
          </p:cNvPicPr>
          <p:nvPr>
            <p:ph idx="1"/>
          </p:nvPr>
        </p:nvPicPr>
        <p:blipFill>
          <a:blip r:embed="rId2" cstate="print"/>
          <a:stretch>
            <a:fillRect/>
          </a:stretch>
        </p:blipFill>
        <p:spPr>
          <a:xfrm>
            <a:off x="4378307" y="2468032"/>
            <a:ext cx="4235219" cy="3416300"/>
          </a:xfrm>
          <a:prstGeom prst="rect">
            <a:avLst/>
          </a:prstGeom>
        </p:spPr>
      </p:pic>
    </p:spTree>
    <p:extLst>
      <p:ext uri="{BB962C8B-B14F-4D97-AF65-F5344CB8AC3E}">
        <p14:creationId xmlns:p14="http://schemas.microsoft.com/office/powerpoint/2010/main" val="9833375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98ABC2-5F0D-954F-8C87-CE374B72ECD9}"/>
              </a:ext>
            </a:extLst>
          </p:cNvPr>
          <p:cNvSpPr>
            <a:spLocks noGrp="1"/>
          </p:cNvSpPr>
          <p:nvPr>
            <p:ph type="title"/>
          </p:nvPr>
        </p:nvSpPr>
        <p:spPr/>
        <p:txBody>
          <a:bodyPr/>
          <a:lstStyle/>
          <a:p>
            <a:r>
              <a:rPr lang="en-GB" b="1" i="1" u="sng">
                <a:solidFill>
                  <a:schemeClr val="accent1"/>
                </a:solidFill>
              </a:rPr>
              <a:t>HARDWARE COMPONENTS </a:t>
            </a:r>
            <a:endParaRPr lang="en-US" b="1" i="1" u="sng">
              <a:solidFill>
                <a:schemeClr val="accent1"/>
              </a:solidFill>
            </a:endParaRPr>
          </a:p>
        </p:txBody>
      </p:sp>
      <p:sp>
        <p:nvSpPr>
          <p:cNvPr id="3" name="Content Placeholder 2">
            <a:extLst>
              <a:ext uri="{FF2B5EF4-FFF2-40B4-BE49-F238E27FC236}">
                <a16:creationId xmlns:a16="http://schemas.microsoft.com/office/drawing/2014/main" id="{ACA85C4C-433E-6445-823D-74A82EB26AA7}"/>
              </a:ext>
            </a:extLst>
          </p:cNvPr>
          <p:cNvSpPr>
            <a:spLocks noGrp="1"/>
          </p:cNvSpPr>
          <p:nvPr>
            <p:ph idx="1"/>
          </p:nvPr>
        </p:nvSpPr>
        <p:spPr/>
        <p:txBody>
          <a:bodyPr>
            <a:normAutofit lnSpcReduction="10000"/>
          </a:bodyPr>
          <a:lstStyle/>
          <a:p>
            <a:r>
              <a:rPr lang="en-GB" sz="1800" b="1">
                <a:effectLst/>
                <a:latin typeface="Times New Roman" panose="02020603050405020304" pitchFamily="18" charset="0"/>
                <a:ea typeface="PMingLiU" panose="020B0502040504020204" pitchFamily="34" charset="0"/>
              </a:rPr>
              <a:t>            .</a:t>
            </a:r>
            <a:r>
              <a:rPr lang="en-GB" sz="1800">
                <a:effectLst/>
                <a:latin typeface="Times New Roman" panose="02020603050405020304" pitchFamily="18" charset="0"/>
                <a:ea typeface="PMingLiU" panose="020B0502040504020204" pitchFamily="34" charset="0"/>
              </a:rPr>
              <a:t> Power Supply</a:t>
            </a:r>
          </a:p>
          <a:p>
            <a:r>
              <a:rPr lang="en-GB" sz="1800">
                <a:effectLst/>
                <a:latin typeface="Times New Roman" panose="02020603050405020304" pitchFamily="18" charset="0"/>
                <a:ea typeface="PMingLiU" panose="020B0502040504020204" pitchFamily="34" charset="0"/>
              </a:rPr>
              <a:t>            </a:t>
            </a:r>
            <a:r>
              <a:rPr lang="en-GB" sz="1800" b="1">
                <a:effectLst/>
                <a:latin typeface="Times New Roman" panose="02020603050405020304" pitchFamily="18" charset="0"/>
                <a:ea typeface="PMingLiU" panose="020B0502040504020204" pitchFamily="34" charset="0"/>
              </a:rPr>
              <a:t>.</a:t>
            </a:r>
            <a:r>
              <a:rPr lang="en-GB" sz="1800">
                <a:effectLst/>
                <a:latin typeface="Times New Roman" panose="02020603050405020304" pitchFamily="18" charset="0"/>
                <a:ea typeface="PMingLiU" panose="020B0502040504020204" pitchFamily="34" charset="0"/>
              </a:rPr>
              <a:t> Node MSU Esp8266</a:t>
            </a:r>
          </a:p>
          <a:p>
            <a:r>
              <a:rPr lang="en-GB" sz="1800">
                <a:effectLst/>
                <a:latin typeface="Times New Roman" panose="02020603050405020304" pitchFamily="18" charset="0"/>
                <a:ea typeface="PMingLiU" panose="020B0502040504020204" pitchFamily="34" charset="0"/>
              </a:rPr>
              <a:t>            </a:t>
            </a:r>
            <a:r>
              <a:rPr lang="en-GB" sz="1800" b="1">
                <a:effectLst/>
                <a:latin typeface="Times New Roman" panose="02020603050405020304" pitchFamily="18" charset="0"/>
                <a:ea typeface="PMingLiU" panose="020B0502040504020204" pitchFamily="34" charset="0"/>
              </a:rPr>
              <a:t>.</a:t>
            </a:r>
            <a:r>
              <a:rPr lang="en-GB" sz="1800">
                <a:effectLst/>
                <a:latin typeface="Times New Roman" panose="02020603050405020304" pitchFamily="18" charset="0"/>
                <a:ea typeface="PMingLiU" panose="020B0502040504020204" pitchFamily="34" charset="0"/>
              </a:rPr>
              <a:t> Ultrasonic Sensor HC-SR04</a:t>
            </a:r>
          </a:p>
          <a:p>
            <a:r>
              <a:rPr lang="en-GB" sz="1800">
                <a:effectLst/>
                <a:latin typeface="Times New Roman" panose="02020603050405020304" pitchFamily="18" charset="0"/>
                <a:ea typeface="PMingLiU" panose="020B0502040504020204" pitchFamily="34" charset="0"/>
              </a:rPr>
              <a:t>            </a:t>
            </a:r>
            <a:r>
              <a:rPr lang="en-GB" sz="1800" b="1">
                <a:effectLst/>
                <a:latin typeface="Times New Roman" panose="02020603050405020304" pitchFamily="18" charset="0"/>
                <a:ea typeface="PMingLiU" panose="020B0502040504020204" pitchFamily="34" charset="0"/>
              </a:rPr>
              <a:t>.</a:t>
            </a:r>
            <a:r>
              <a:rPr lang="en-GB" sz="1800">
                <a:effectLst/>
                <a:latin typeface="Times New Roman" panose="02020603050405020304" pitchFamily="18" charset="0"/>
                <a:ea typeface="PMingLiU" panose="020B0502040504020204" pitchFamily="34" charset="0"/>
              </a:rPr>
              <a:t> 16×2 LED display</a:t>
            </a:r>
          </a:p>
          <a:p>
            <a:r>
              <a:rPr lang="en-GB" sz="1800">
                <a:effectLst/>
                <a:latin typeface="Times New Roman" panose="02020603050405020304" pitchFamily="18" charset="0"/>
                <a:ea typeface="PMingLiU" panose="020B0502040504020204" pitchFamily="34" charset="0"/>
              </a:rPr>
              <a:t>            </a:t>
            </a:r>
            <a:r>
              <a:rPr lang="en-GB" sz="1800" b="1">
                <a:effectLst/>
                <a:latin typeface="Times New Roman" panose="02020603050405020304" pitchFamily="18" charset="0"/>
                <a:ea typeface="PMingLiU" panose="020B0502040504020204" pitchFamily="34" charset="0"/>
              </a:rPr>
              <a:t>.</a:t>
            </a:r>
            <a:r>
              <a:rPr lang="en-GB" sz="1800">
                <a:effectLst/>
                <a:latin typeface="Times New Roman" panose="02020603050405020304" pitchFamily="18" charset="0"/>
                <a:ea typeface="PMingLiU" panose="020B0502040504020204" pitchFamily="34" charset="0"/>
              </a:rPr>
              <a:t> Red LED &amp; Green LED</a:t>
            </a:r>
          </a:p>
          <a:p>
            <a:r>
              <a:rPr lang="en-GB" sz="1800">
                <a:effectLst/>
                <a:latin typeface="Times New Roman" panose="02020603050405020304" pitchFamily="18" charset="0"/>
                <a:ea typeface="PMingLiU" panose="020B0502040504020204" pitchFamily="34" charset="0"/>
              </a:rPr>
              <a:t>            </a:t>
            </a:r>
            <a:r>
              <a:rPr lang="en-GB" sz="1800" b="1">
                <a:effectLst/>
                <a:latin typeface="Times New Roman" panose="02020603050405020304" pitchFamily="18" charset="0"/>
                <a:ea typeface="PMingLiU" panose="020B0502040504020204" pitchFamily="34" charset="0"/>
              </a:rPr>
              <a:t>.</a:t>
            </a:r>
            <a:r>
              <a:rPr lang="en-GB" sz="1800">
                <a:effectLst/>
                <a:latin typeface="Times New Roman" panose="02020603050405020304" pitchFamily="18" charset="0"/>
                <a:ea typeface="PMingLiU" panose="020B0502040504020204" pitchFamily="34" charset="0"/>
              </a:rPr>
              <a:t> LM 35 temp</a:t>
            </a:r>
          </a:p>
          <a:p>
            <a:r>
              <a:rPr lang="en-GB" sz="1800">
                <a:effectLst/>
                <a:latin typeface="Times New Roman" panose="02020603050405020304" pitchFamily="18" charset="0"/>
                <a:ea typeface="PMingLiU" panose="020B0502040504020204" pitchFamily="34" charset="0"/>
              </a:rPr>
              <a:t>            </a:t>
            </a:r>
            <a:r>
              <a:rPr lang="en-GB" sz="1800" b="1">
                <a:effectLst/>
                <a:latin typeface="Times New Roman" panose="02020603050405020304" pitchFamily="18" charset="0"/>
                <a:ea typeface="PMingLiU" panose="020B0502040504020204" pitchFamily="34" charset="0"/>
              </a:rPr>
              <a:t>.</a:t>
            </a:r>
            <a:r>
              <a:rPr lang="en-GB" sz="1800">
                <a:effectLst/>
                <a:latin typeface="Times New Roman" panose="02020603050405020304" pitchFamily="18" charset="0"/>
                <a:ea typeface="PMingLiU" panose="020B0502040504020204" pitchFamily="34" charset="0"/>
              </a:rPr>
              <a:t> GSM SIM 800L</a:t>
            </a:r>
          </a:p>
          <a:p>
            <a:r>
              <a:rPr lang="en-GB" sz="1800">
                <a:effectLst/>
                <a:latin typeface="Times New Roman" panose="02020603050405020304" pitchFamily="18" charset="0"/>
                <a:ea typeface="PMingLiU" panose="020B0502040504020204" pitchFamily="34" charset="0"/>
              </a:rPr>
              <a:t>            </a:t>
            </a:r>
            <a:r>
              <a:rPr lang="en-GB" sz="1800" b="1">
                <a:effectLst/>
                <a:latin typeface="Times New Roman" panose="02020603050405020304" pitchFamily="18" charset="0"/>
                <a:ea typeface="PMingLiU" panose="020B0502040504020204" pitchFamily="34" charset="0"/>
              </a:rPr>
              <a:t>.</a:t>
            </a:r>
            <a:r>
              <a:rPr lang="en-GB" sz="1800">
                <a:effectLst/>
                <a:latin typeface="Times New Roman" panose="02020603050405020304" pitchFamily="18" charset="0"/>
                <a:ea typeface="PMingLiU" panose="020B0502040504020204" pitchFamily="34" charset="0"/>
              </a:rPr>
              <a:t> Arudino UNO</a:t>
            </a:r>
          </a:p>
          <a:p>
            <a:r>
              <a:rPr lang="en-GB" sz="1800">
                <a:effectLst/>
                <a:latin typeface="Times New Roman" panose="02020603050405020304" pitchFamily="18" charset="0"/>
                <a:ea typeface="PMingLiU" panose="020B0502040504020204" pitchFamily="34" charset="0"/>
              </a:rPr>
              <a:t>            </a:t>
            </a:r>
            <a:r>
              <a:rPr lang="en-GB" sz="1800" b="1">
                <a:effectLst/>
                <a:latin typeface="Times New Roman" panose="02020603050405020304" pitchFamily="18" charset="0"/>
                <a:ea typeface="PMingLiU" panose="020B0502040504020204" pitchFamily="34" charset="0"/>
              </a:rPr>
              <a:t>.</a:t>
            </a:r>
            <a:r>
              <a:rPr lang="en-GB" sz="1800">
                <a:effectLst/>
                <a:latin typeface="Times New Roman" panose="02020603050405020304" pitchFamily="18" charset="0"/>
                <a:ea typeface="PMingLiU" panose="020B0502040504020204" pitchFamily="34" charset="0"/>
              </a:rPr>
              <a:t> Water level sensor</a:t>
            </a:r>
          </a:p>
          <a:p>
            <a:endParaRPr lang="en-US"/>
          </a:p>
        </p:txBody>
      </p:sp>
    </p:spTree>
    <p:extLst>
      <p:ext uri="{BB962C8B-B14F-4D97-AF65-F5344CB8AC3E}">
        <p14:creationId xmlns:p14="http://schemas.microsoft.com/office/powerpoint/2010/main" val="12690938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517B2F-DEE2-8440-BD80-B76A44038B20}"/>
              </a:ext>
            </a:extLst>
          </p:cNvPr>
          <p:cNvSpPr>
            <a:spLocks noGrp="1"/>
          </p:cNvSpPr>
          <p:nvPr>
            <p:ph type="title"/>
          </p:nvPr>
        </p:nvSpPr>
        <p:spPr/>
        <p:txBody>
          <a:bodyPr/>
          <a:lstStyle/>
          <a:p>
            <a:r>
              <a:rPr lang="en-GB" b="1" i="1" u="sng">
                <a:solidFill>
                  <a:schemeClr val="accent1"/>
                </a:solidFill>
              </a:rPr>
              <a:t>ARDUINO UNO</a:t>
            </a:r>
            <a:endParaRPr lang="en-US" b="1" i="1" u="sng">
              <a:solidFill>
                <a:schemeClr val="accent1"/>
              </a:solidFill>
            </a:endParaRPr>
          </a:p>
        </p:txBody>
      </p:sp>
      <p:sp>
        <p:nvSpPr>
          <p:cNvPr id="5" name="Picture Placeholder 4">
            <a:extLst>
              <a:ext uri="{FF2B5EF4-FFF2-40B4-BE49-F238E27FC236}">
                <a16:creationId xmlns:a16="http://schemas.microsoft.com/office/drawing/2014/main" id="{41650FDE-0650-7A48-905C-9399E444F759}"/>
              </a:ext>
            </a:extLst>
          </p:cNvPr>
          <p:cNvSpPr>
            <a:spLocks noGrp="1"/>
          </p:cNvSpPr>
          <p:nvPr>
            <p:ph idx="1"/>
          </p:nvPr>
        </p:nvSpPr>
        <p:spPr/>
        <p:txBody>
          <a:bodyPr/>
          <a:lstStyle/>
          <a:p>
            <a:r>
              <a:rPr lang="en-GB" sz="1800">
                <a:effectLst/>
                <a:latin typeface="Times New Roman" panose="02020603050405020304" pitchFamily="18" charset="0"/>
                <a:ea typeface="PMingLiU" panose="020B0502040504020204" pitchFamily="34" charset="0"/>
              </a:rPr>
              <a:t> The Arduino Uno is a popular open-source microcontroller board. It is based on the ATmega328P microcontroller and is designed for easy prototyping and development of electronic projects.</a:t>
            </a:r>
            <a:endParaRPr lang="en-US"/>
          </a:p>
        </p:txBody>
      </p:sp>
      <p:sp>
        <p:nvSpPr>
          <p:cNvPr id="3" name="Content Placeholder 2">
            <a:extLst>
              <a:ext uri="{FF2B5EF4-FFF2-40B4-BE49-F238E27FC236}">
                <a16:creationId xmlns:a16="http://schemas.microsoft.com/office/drawing/2014/main" id="{D824FF74-D2ED-134C-B620-345A4DA73C0C}"/>
              </a:ext>
            </a:extLst>
          </p:cNvPr>
          <p:cNvSpPr>
            <a:spLocks noGrp="1"/>
          </p:cNvSpPr>
          <p:nvPr>
            <p:ph type="body" sz="half" idx="2"/>
          </p:nvPr>
        </p:nvSpPr>
        <p:spPr/>
        <p:txBody>
          <a:bodyPr/>
          <a:lstStyle/>
          <a:p>
            <a:r>
              <a:rPr lang="en-GB"/>
              <a:t>Arduino UNO </a:t>
            </a:r>
            <a:endParaRPr lang="en-US"/>
          </a:p>
        </p:txBody>
      </p:sp>
      <p:pic>
        <p:nvPicPr>
          <p:cNvPr id="8" name="Arduino_Uno_-_R3">
            <a:extLst>
              <a:ext uri="{FF2B5EF4-FFF2-40B4-BE49-F238E27FC236}">
                <a16:creationId xmlns:a16="http://schemas.microsoft.com/office/drawing/2014/main" id="{354F3471-3F3C-9340-94F5-1A73B91C4599}"/>
              </a:ext>
            </a:extLst>
          </p:cNvPr>
          <p:cNvPicPr/>
          <p:nvPr/>
        </p:nvPicPr>
        <p:blipFill>
          <a:blip r:embed="rId2" cstate="print"/>
          <a:stretch>
            <a:fillRect/>
          </a:stretch>
        </p:blipFill>
        <p:spPr>
          <a:xfrm flipH="1">
            <a:off x="1396171" y="3503221"/>
            <a:ext cx="2426199" cy="2374179"/>
          </a:xfrm>
          <a:prstGeom prst="rect">
            <a:avLst/>
          </a:prstGeom>
        </p:spPr>
      </p:pic>
    </p:spTree>
    <p:extLst>
      <p:ext uri="{BB962C8B-B14F-4D97-AF65-F5344CB8AC3E}">
        <p14:creationId xmlns:p14="http://schemas.microsoft.com/office/powerpoint/2010/main" val="16968029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8351FE-026D-6945-8707-5C9FFC741B45}"/>
              </a:ext>
            </a:extLst>
          </p:cNvPr>
          <p:cNvSpPr>
            <a:spLocks noGrp="1"/>
          </p:cNvSpPr>
          <p:nvPr>
            <p:ph type="title"/>
          </p:nvPr>
        </p:nvSpPr>
        <p:spPr/>
        <p:txBody>
          <a:bodyPr/>
          <a:lstStyle/>
          <a:p>
            <a:r>
              <a:rPr lang="en-GB" b="1" i="1" u="sng">
                <a:solidFill>
                  <a:schemeClr val="accent1"/>
                </a:solidFill>
              </a:rPr>
              <a:t>ULTRASONIC SENSOR </a:t>
            </a:r>
            <a:endParaRPr lang="en-US" b="1" i="1" u="sng">
              <a:solidFill>
                <a:schemeClr val="accent1"/>
              </a:solidFill>
            </a:endParaRPr>
          </a:p>
        </p:txBody>
      </p:sp>
      <p:sp>
        <p:nvSpPr>
          <p:cNvPr id="3" name="Content Placeholder 2">
            <a:extLst>
              <a:ext uri="{FF2B5EF4-FFF2-40B4-BE49-F238E27FC236}">
                <a16:creationId xmlns:a16="http://schemas.microsoft.com/office/drawing/2014/main" id="{4ED5542B-5CFB-D74B-BD28-CC0A010A5172}"/>
              </a:ext>
            </a:extLst>
          </p:cNvPr>
          <p:cNvSpPr>
            <a:spLocks noGrp="1"/>
          </p:cNvSpPr>
          <p:nvPr>
            <p:ph idx="1"/>
          </p:nvPr>
        </p:nvSpPr>
        <p:spPr/>
        <p:txBody>
          <a:bodyPr/>
          <a:lstStyle/>
          <a:p>
            <a:r>
              <a:rPr lang="en-GB"/>
              <a:t>An ultrasonic sensor is a device that uses ultrasonic sound waves to detect the distance or presence of objects. It works by emitting high-frequency sound waves (usually beyond the range of human hearing) and then measuring the time it takes for the sound waves to bounce back after hitting an object. By calculating the time it takes for the sound waves to return, the sensor can determine the distance to the object.</a:t>
            </a:r>
            <a:endParaRPr lang="en-US"/>
          </a:p>
        </p:txBody>
      </p:sp>
      <p:sp>
        <p:nvSpPr>
          <p:cNvPr id="4" name="Text Placeholder 3">
            <a:extLst>
              <a:ext uri="{FF2B5EF4-FFF2-40B4-BE49-F238E27FC236}">
                <a16:creationId xmlns:a16="http://schemas.microsoft.com/office/drawing/2014/main" id="{11E34016-9053-CD47-A530-D2DB5BBC94B2}"/>
              </a:ext>
            </a:extLst>
          </p:cNvPr>
          <p:cNvSpPr>
            <a:spLocks noGrp="1"/>
          </p:cNvSpPr>
          <p:nvPr>
            <p:ph type="body" sz="half" idx="2"/>
          </p:nvPr>
        </p:nvSpPr>
        <p:spPr/>
        <p:txBody>
          <a:bodyPr/>
          <a:lstStyle/>
          <a:p>
            <a:r>
              <a:rPr lang="en-GB"/>
              <a:t>Ultrasonic sensor</a:t>
            </a:r>
          </a:p>
          <a:p>
            <a:r>
              <a:rPr lang="en-GB"/>
              <a:t> </a:t>
            </a:r>
            <a:endParaRPr lang="en-US"/>
          </a:p>
        </p:txBody>
      </p:sp>
      <p:pic>
        <p:nvPicPr>
          <p:cNvPr id="10" name="ultrasonic-sensor-458x458">
            <a:extLst>
              <a:ext uri="{FF2B5EF4-FFF2-40B4-BE49-F238E27FC236}">
                <a16:creationId xmlns:a16="http://schemas.microsoft.com/office/drawing/2014/main" id="{776A1802-68A1-B94D-AE48-72277E3A26F0}"/>
              </a:ext>
            </a:extLst>
          </p:cNvPr>
          <p:cNvPicPr/>
          <p:nvPr/>
        </p:nvPicPr>
        <p:blipFill>
          <a:blip r:embed="rId2" cstate="print"/>
          <a:stretch>
            <a:fillRect/>
          </a:stretch>
        </p:blipFill>
        <p:spPr>
          <a:xfrm>
            <a:off x="1759645" y="3804310"/>
            <a:ext cx="1583776" cy="1442626"/>
          </a:xfrm>
          <a:prstGeom prst="rect">
            <a:avLst/>
          </a:prstGeom>
        </p:spPr>
      </p:pic>
    </p:spTree>
    <p:extLst>
      <p:ext uri="{BB962C8B-B14F-4D97-AF65-F5344CB8AC3E}">
        <p14:creationId xmlns:p14="http://schemas.microsoft.com/office/powerpoint/2010/main" val="7790458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7983A9-9296-9848-BCF5-BAEC9D914882}"/>
              </a:ext>
            </a:extLst>
          </p:cNvPr>
          <p:cNvSpPr>
            <a:spLocks noGrp="1"/>
          </p:cNvSpPr>
          <p:nvPr>
            <p:ph type="title"/>
          </p:nvPr>
        </p:nvSpPr>
        <p:spPr/>
        <p:txBody>
          <a:bodyPr/>
          <a:lstStyle/>
          <a:p>
            <a:r>
              <a:rPr lang="en-GB" b="1" i="1" u="sng">
                <a:solidFill>
                  <a:schemeClr val="accent1"/>
                </a:solidFill>
              </a:rPr>
              <a:t>GSM</a:t>
            </a:r>
            <a:endParaRPr lang="en-US" b="1" i="1" u="sng">
              <a:solidFill>
                <a:schemeClr val="accent1"/>
              </a:solidFill>
            </a:endParaRPr>
          </a:p>
        </p:txBody>
      </p:sp>
      <p:sp>
        <p:nvSpPr>
          <p:cNvPr id="3" name="Content Placeholder 2">
            <a:extLst>
              <a:ext uri="{FF2B5EF4-FFF2-40B4-BE49-F238E27FC236}">
                <a16:creationId xmlns:a16="http://schemas.microsoft.com/office/drawing/2014/main" id="{8C05FC29-3DDB-654D-8F28-24BAA05FB025}"/>
              </a:ext>
            </a:extLst>
          </p:cNvPr>
          <p:cNvSpPr>
            <a:spLocks noGrp="1"/>
          </p:cNvSpPr>
          <p:nvPr>
            <p:ph idx="1"/>
          </p:nvPr>
        </p:nvSpPr>
        <p:spPr/>
        <p:txBody>
          <a:bodyPr>
            <a:normAutofit/>
          </a:bodyPr>
          <a:lstStyle/>
          <a:p>
            <a:r>
              <a:rPr lang="en-GB"/>
              <a:t>      A GSM (Global System for Mobile Communications) module in IoT (Internet of Things) is a hardware component that allows IoT devices to connect to cellular networks. It enables communication between the IoT device and a remote server or control center through the cellular network, making it possible for the device to send and receive data over long distances. GSM modules are commonly used in IoT applications where Wi-Fi or other wired connections are not feasible or reliable. They can be used for various purposes, such as tracking devices, remote monitoring, and control of equipment, and more.</a:t>
            </a:r>
            <a:endParaRPr lang="en-US"/>
          </a:p>
        </p:txBody>
      </p:sp>
      <p:sp>
        <p:nvSpPr>
          <p:cNvPr id="4" name="Text Placeholder 3">
            <a:extLst>
              <a:ext uri="{FF2B5EF4-FFF2-40B4-BE49-F238E27FC236}">
                <a16:creationId xmlns:a16="http://schemas.microsoft.com/office/drawing/2014/main" id="{76EC1003-6787-434C-9BE3-FAECDCC14F15}"/>
              </a:ext>
            </a:extLst>
          </p:cNvPr>
          <p:cNvSpPr>
            <a:spLocks noGrp="1"/>
          </p:cNvSpPr>
          <p:nvPr>
            <p:ph type="body" sz="half" idx="2"/>
          </p:nvPr>
        </p:nvSpPr>
        <p:spPr/>
        <p:txBody>
          <a:bodyPr/>
          <a:lstStyle/>
          <a:p>
            <a:r>
              <a:rPr lang="en-GB"/>
              <a:t>Gsm</a:t>
            </a:r>
            <a:endParaRPr lang="en-US"/>
          </a:p>
        </p:txBody>
      </p:sp>
      <p:pic>
        <p:nvPicPr>
          <p:cNvPr id="7" name="SIM800A-Quad-Band-GSMGPRS-Module-with-RS232-Interface-2">
            <a:extLst>
              <a:ext uri="{FF2B5EF4-FFF2-40B4-BE49-F238E27FC236}">
                <a16:creationId xmlns:a16="http://schemas.microsoft.com/office/drawing/2014/main" id="{7F3984DF-8C9F-EF41-A83F-50A9912F3429}"/>
              </a:ext>
            </a:extLst>
          </p:cNvPr>
          <p:cNvPicPr/>
          <p:nvPr/>
        </p:nvPicPr>
        <p:blipFill>
          <a:blip r:embed="rId2" cstate="print"/>
          <a:stretch>
            <a:fillRect/>
          </a:stretch>
        </p:blipFill>
        <p:spPr>
          <a:xfrm>
            <a:off x="1712374" y="3859081"/>
            <a:ext cx="1678317" cy="1435995"/>
          </a:xfrm>
          <a:prstGeom prst="rect">
            <a:avLst/>
          </a:prstGeom>
        </p:spPr>
      </p:pic>
    </p:spTree>
    <p:extLst>
      <p:ext uri="{BB962C8B-B14F-4D97-AF65-F5344CB8AC3E}">
        <p14:creationId xmlns:p14="http://schemas.microsoft.com/office/powerpoint/2010/main" val="5773359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EB396F-A6AF-8645-9DBB-B42693382B00}"/>
              </a:ext>
            </a:extLst>
          </p:cNvPr>
          <p:cNvSpPr>
            <a:spLocks noGrp="1"/>
          </p:cNvSpPr>
          <p:nvPr>
            <p:ph type="title"/>
          </p:nvPr>
        </p:nvSpPr>
        <p:spPr/>
        <p:txBody>
          <a:bodyPr/>
          <a:lstStyle/>
          <a:p>
            <a:r>
              <a:rPr lang="en-GB" b="1" i="1" u="sng">
                <a:solidFill>
                  <a:schemeClr val="accent1"/>
                </a:solidFill>
              </a:rPr>
              <a:t>TECHNICAL STACK </a:t>
            </a:r>
            <a:endParaRPr lang="en-US" b="1" i="1" u="sng">
              <a:solidFill>
                <a:schemeClr val="accent1"/>
              </a:solidFill>
            </a:endParaRPr>
          </a:p>
        </p:txBody>
      </p:sp>
      <p:pic>
        <p:nvPicPr>
          <p:cNvPr id="7" name="Components-of-a-flood-early-warning-system">
            <a:extLst>
              <a:ext uri="{FF2B5EF4-FFF2-40B4-BE49-F238E27FC236}">
                <a16:creationId xmlns:a16="http://schemas.microsoft.com/office/drawing/2014/main" id="{0BFA719E-A7A5-2049-867C-632DEA4E6A70}"/>
              </a:ext>
            </a:extLst>
          </p:cNvPr>
          <p:cNvPicPr>
            <a:picLocks noGrp="1"/>
          </p:cNvPicPr>
          <p:nvPr>
            <p:ph idx="1"/>
          </p:nvPr>
        </p:nvPicPr>
        <p:blipFill>
          <a:blip r:embed="rId2" cstate="print"/>
          <a:stretch>
            <a:fillRect/>
          </a:stretch>
        </p:blipFill>
        <p:spPr>
          <a:xfrm>
            <a:off x="2754344" y="2603500"/>
            <a:ext cx="5627625" cy="3416300"/>
          </a:xfrm>
          <a:prstGeom prst="rect">
            <a:avLst/>
          </a:prstGeom>
        </p:spPr>
      </p:pic>
    </p:spTree>
    <p:extLst>
      <p:ext uri="{BB962C8B-B14F-4D97-AF65-F5344CB8AC3E}">
        <p14:creationId xmlns:p14="http://schemas.microsoft.com/office/powerpoint/2010/main" val="23450969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2E3E2A-DEB2-4D46-AFD0-68F7CB86F5C3}"/>
              </a:ext>
            </a:extLst>
          </p:cNvPr>
          <p:cNvSpPr>
            <a:spLocks noGrp="1"/>
          </p:cNvSpPr>
          <p:nvPr>
            <p:ph type="title"/>
          </p:nvPr>
        </p:nvSpPr>
        <p:spPr/>
        <p:txBody>
          <a:bodyPr/>
          <a:lstStyle/>
          <a:p>
            <a:r>
              <a:rPr lang="en-GB" b="1" i="1" u="sng">
                <a:solidFill>
                  <a:schemeClr val="accent1"/>
                </a:solidFill>
              </a:rPr>
              <a:t>CONCLUSION </a:t>
            </a:r>
            <a:endParaRPr lang="en-US" b="1" i="1" u="sng">
              <a:solidFill>
                <a:schemeClr val="accent1"/>
              </a:solidFill>
            </a:endParaRPr>
          </a:p>
        </p:txBody>
      </p:sp>
      <p:sp>
        <p:nvSpPr>
          <p:cNvPr id="3" name="Content Placeholder 2">
            <a:extLst>
              <a:ext uri="{FF2B5EF4-FFF2-40B4-BE49-F238E27FC236}">
                <a16:creationId xmlns:a16="http://schemas.microsoft.com/office/drawing/2014/main" id="{06134CAB-6654-B84F-B70B-BC69C3F78228}"/>
              </a:ext>
            </a:extLst>
          </p:cNvPr>
          <p:cNvSpPr>
            <a:spLocks noGrp="1"/>
          </p:cNvSpPr>
          <p:nvPr>
            <p:ph idx="1"/>
          </p:nvPr>
        </p:nvSpPr>
        <p:spPr/>
        <p:txBody>
          <a:bodyPr/>
          <a:lstStyle/>
          <a:p>
            <a:r>
              <a:rPr lang="en-GB" sz="1800">
                <a:effectLst/>
                <a:latin typeface="Times New Roman" panose="02020603050405020304" pitchFamily="18" charset="0"/>
                <a:ea typeface="PMingLiU" panose="020B0502040504020204" pitchFamily="34" charset="0"/>
              </a:rPr>
              <a:t> Flood monitoring is crucial for early warning and disaster management. It involves the use of various technologies like remote sensing, weather forecasts, and river gauges to assess flood risks. Effective flood monitoring can save lives and reduce property damage by providing timely alerts and information to authorities and the public. Continuous advancements in technology and data analysis are improving the accuracy and efficiency of flood monitoring systems, making them increasingly important in the face of climate change and growing urbanization.</a:t>
            </a:r>
          </a:p>
          <a:p>
            <a:pPr marL="0" indent="0">
              <a:buNone/>
            </a:pPr>
            <a:endParaRPr lang="en-US"/>
          </a:p>
        </p:txBody>
      </p:sp>
    </p:spTree>
    <p:extLst>
      <p:ext uri="{BB962C8B-B14F-4D97-AF65-F5344CB8AC3E}">
        <p14:creationId xmlns:p14="http://schemas.microsoft.com/office/powerpoint/2010/main" val="3409682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51658-E28C-5C47-8CFA-790BD2F1D298}"/>
              </a:ext>
            </a:extLst>
          </p:cNvPr>
          <p:cNvSpPr>
            <a:spLocks noGrp="1"/>
          </p:cNvSpPr>
          <p:nvPr>
            <p:ph type="title"/>
          </p:nvPr>
        </p:nvSpPr>
        <p:spPr>
          <a:xfrm>
            <a:off x="3975343" y="3429000"/>
            <a:ext cx="8761413" cy="706964"/>
          </a:xfrm>
        </p:spPr>
        <p:txBody>
          <a:bodyPr/>
          <a:lstStyle/>
          <a:p>
            <a:r>
              <a:rPr lang="en-GB" sz="6000" b="1" i="1" u="sng">
                <a:solidFill>
                  <a:schemeClr val="accent1"/>
                </a:solidFill>
              </a:rPr>
              <a:t>THANK YOU </a:t>
            </a:r>
            <a:endParaRPr lang="en-US" sz="6000" b="1" i="1" u="sng">
              <a:solidFill>
                <a:schemeClr val="accent1"/>
              </a:solidFill>
            </a:endParaRPr>
          </a:p>
        </p:txBody>
      </p:sp>
    </p:spTree>
    <p:extLst>
      <p:ext uri="{BB962C8B-B14F-4D97-AF65-F5344CB8AC3E}">
        <p14:creationId xmlns:p14="http://schemas.microsoft.com/office/powerpoint/2010/main" val="145790006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 /></Relationships>
</file>

<file path=ppt/theme/theme1.xml><?xml version="1.0" encoding="utf-8"?>
<a:theme xmlns:a="http://schemas.openxmlformats.org/drawingml/2006/main" name="TF10001029">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TF10001029" id="{ED3996BA-162B-43C7-B0E2-A5CA4E649741}" vid="{187088E4-27D7-4455-856F-4A44258D82E2}"/>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11</Slides>
  <Notes>0</Notes>
  <HiddenSlides>0</HiddenSlide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TF10001029</vt:lpstr>
      <vt:lpstr>FLOOD MONITORING AND EARLY WARNING SYSTEM </vt:lpstr>
      <vt:lpstr>ABSTRACT </vt:lpstr>
      <vt:lpstr>INTRODUCTION </vt:lpstr>
      <vt:lpstr>DESIGN </vt:lpstr>
      <vt:lpstr>HARDWARE COMPONENTS </vt:lpstr>
      <vt:lpstr>ARDUINO UNO</vt:lpstr>
      <vt:lpstr>ULTRASONIC SENSOR </vt:lpstr>
      <vt:lpstr>GSM</vt:lpstr>
      <vt:lpstr>TECHNICAL STACK </vt:lpstr>
      <vt:lpstr>CONCLUSION </vt:lpstr>
      <vt:lpstr>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FLOOD MONITORING AND EARLY WARNING SYSTEM </dc:title>
  <dc:creator>Unknown User</dc:creator>
  <cp:lastModifiedBy>Unknown User</cp:lastModifiedBy>
  <cp:revision>1</cp:revision>
  <dcterms:created xsi:type="dcterms:W3CDTF">2023-10-11T13:29:36Z</dcterms:created>
  <dcterms:modified xsi:type="dcterms:W3CDTF">2023-10-11T13:45:52Z</dcterms:modified>
</cp:coreProperties>
</file>